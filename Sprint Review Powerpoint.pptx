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68" r:id="rId5"/>
    <p:sldId id="261" r:id="rId6"/>
    <p:sldId id="267" r:id="rId7"/>
    <p:sldId id="269" r:id="rId8"/>
    <p:sldId id="263" r:id="rId9"/>
    <p:sldId id="270" r:id="rId10"/>
    <p:sldId id="265" r:id="rId11"/>
    <p:sldId id="266" r:id="rId12"/>
  </p:sldIdLst>
  <p:sldSz cx="9144000" cy="5143500" type="screen16x9"/>
  <p:notesSz cx="6858000" cy="9144000"/>
  <p:embeddedFontLst>
    <p:embeddedFont>
      <p:font typeface="Oswald" panose="00000500000000000000" pitchFamily="2" charset="0"/>
      <p:regular r:id="rId14"/>
      <p:bold r:id="rId15"/>
    </p:embeddedFont>
    <p:embeddedFont>
      <p:font typeface="Source Code Pro" panose="020B0509030403020204" pitchFamily="49"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ihjq+y/2lQmrTtrNoII3Bacq6O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52A43F-7E87-3743-7620-3D4D4D3060D6}" v="9" dt="2025-02-19T18:43:02.023"/>
    <p1510:client id="{4E365048-ABC4-A06F-B2CD-13F4DE93189E}" v="111" dt="2025-02-19T18:39:02.794"/>
    <p1510:client id="{71491B42-A9BC-F5E3-B9F1-9A1AE8A91240}" v="14" dt="2025-02-19T15:25:31.514"/>
    <p1510:client id="{DF33D6C3-CC62-B4AA-D998-28262083E6BA}" v="298" dt="2025-02-19T09:23:43.091"/>
  </p1510:revLst>
</p1510:revInfo>
</file>

<file path=ppt/tableStyles.xml><?xml version="1.0" encoding="utf-8"?>
<a:tblStyleLst xmlns:a="http://schemas.openxmlformats.org/drawingml/2006/main" def="{B5FF4E5E-D2FB-4817-8A9A-62EE3478D1B3}">
  <a:tblStyle styleId="{B5FF4E5E-D2FB-4817-8A9A-62EE3478D1B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8" d="100"/>
          <a:sy n="128" d="100"/>
        </p:scale>
        <p:origin x="150" y="33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b="1" dirty="0"/>
              <a:t>SG</a:t>
            </a:r>
            <a:r>
              <a:rPr lang="en-US" dirty="0"/>
              <a:t> stands for </a:t>
            </a:r>
            <a:r>
              <a:rPr lang="en-US" b="1" dirty="0"/>
              <a:t>Sprint Goal</a:t>
            </a:r>
            <a:r>
              <a:rPr lang="en-US" dirty="0"/>
              <a:t>. The "Value Delivered SG" refers to the specific product backlog items or deliverables that were completed during the sprint to achieve the sprint goal. Each completed backlog item listed under "SG" demonstrates the value that the sprint has delivered towards meeting the sprint goal.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A9914222-643C-47B6-1103-D0C808CFAC8F}"/>
            </a:ext>
          </a:extLst>
        </p:cNvPr>
        <p:cNvGrpSpPr/>
        <p:nvPr/>
      </p:nvGrpSpPr>
      <p:grpSpPr>
        <a:xfrm>
          <a:off x="0" y="0"/>
          <a:ext cx="0" cy="0"/>
          <a:chOff x="0" y="0"/>
          <a:chExt cx="0" cy="0"/>
        </a:xfrm>
      </p:grpSpPr>
      <p:sp>
        <p:nvSpPr>
          <p:cNvPr id="65" name="Google Shape;65;p1:notes">
            <a:extLst>
              <a:ext uri="{FF2B5EF4-FFF2-40B4-BE49-F238E27FC236}">
                <a16:creationId xmlns:a16="http://schemas.microsoft.com/office/drawing/2014/main" id="{EC2F8D85-A34B-0033-EA13-2330DBE744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1:notes">
            <a:extLst>
              <a:ext uri="{FF2B5EF4-FFF2-40B4-BE49-F238E27FC236}">
                <a16:creationId xmlns:a16="http://schemas.microsoft.com/office/drawing/2014/main" id="{0C32F2C6-C99D-126F-B14F-8AC05551D7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11827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a:extLst>
            <a:ext uri="{FF2B5EF4-FFF2-40B4-BE49-F238E27FC236}">
              <a16:creationId xmlns:a16="http://schemas.microsoft.com/office/drawing/2014/main" id="{AF526E49-17F9-863E-59D5-D6EBC8B4A9DF}"/>
            </a:ext>
          </a:extLst>
        </p:cNvPr>
        <p:cNvGrpSpPr/>
        <p:nvPr/>
      </p:nvGrpSpPr>
      <p:grpSpPr>
        <a:xfrm>
          <a:off x="0" y="0"/>
          <a:ext cx="0" cy="0"/>
          <a:chOff x="0" y="0"/>
          <a:chExt cx="0" cy="0"/>
        </a:xfrm>
      </p:grpSpPr>
      <p:sp>
        <p:nvSpPr>
          <p:cNvPr id="65" name="Google Shape;65;p1:notes">
            <a:extLst>
              <a:ext uri="{FF2B5EF4-FFF2-40B4-BE49-F238E27FC236}">
                <a16:creationId xmlns:a16="http://schemas.microsoft.com/office/drawing/2014/main" id="{B0475B88-DD6A-6B74-17DD-F6A00CA4A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1:notes">
            <a:extLst>
              <a:ext uri="{FF2B5EF4-FFF2-40B4-BE49-F238E27FC236}">
                <a16:creationId xmlns:a16="http://schemas.microsoft.com/office/drawing/2014/main" id="{2BB17AB4-3233-30C9-4BD3-BE5B9650B9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78729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
        <p:cNvGrpSpPr/>
        <p:nvPr/>
      </p:nvGrpSpPr>
      <p:grpSpPr>
        <a:xfrm>
          <a:off x="0" y="0"/>
          <a:ext cx="0" cy="0"/>
          <a:chOff x="0" y="0"/>
          <a:chExt cx="0" cy="0"/>
        </a:xfrm>
      </p:grpSpPr>
      <p:cxnSp>
        <p:nvCxnSpPr>
          <p:cNvPr id="10" name="Google Shape;10;p13"/>
          <p:cNvCxnSpPr/>
          <p:nvPr/>
        </p:nvCxnSpPr>
        <p:spPr>
          <a:xfrm>
            <a:off x="418675" y="1457787"/>
            <a:ext cx="614100" cy="0"/>
          </a:xfrm>
          <a:prstGeom prst="straightConnector1">
            <a:avLst/>
          </a:prstGeom>
          <a:noFill/>
          <a:ln w="19050" cap="flat" cmpd="sng">
            <a:solidFill>
              <a:schemeClr val="dk2"/>
            </a:solidFill>
            <a:prstDash val="lgDash"/>
            <a:round/>
            <a:headEnd type="none" w="sm" len="sm"/>
            <a:tailEnd type="none" w="sm" len="sm"/>
          </a:ln>
        </p:spPr>
      </p:cxnSp>
      <p:sp>
        <p:nvSpPr>
          <p:cNvPr id="11" name="Google Shape;11;p13"/>
          <p:cNvSpPr txBox="1">
            <a:spLocks noGrp="1"/>
          </p:cNvSpPr>
          <p:nvPr>
            <p:ph type="title"/>
          </p:nvPr>
        </p:nvSpPr>
        <p:spPr>
          <a:xfrm>
            <a:off x="311700" y="6318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2" name="Google Shape;12;p13"/>
          <p:cNvSpPr txBox="1">
            <a:spLocks noGrp="1"/>
          </p:cNvSpPr>
          <p:nvPr>
            <p:ph type="body" idx="1"/>
          </p:nvPr>
        </p:nvSpPr>
        <p:spPr>
          <a:xfrm>
            <a:off x="311700" y="1618204"/>
            <a:ext cx="2808000" cy="29508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 name="Google Shape;1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 no dashes">
  <p:cSld name="SECTION_TITLE_AND_DESCRIPTION_1">
    <p:bg>
      <p:bgPr>
        <a:solidFill>
          <a:schemeClr val="dk1"/>
        </a:solidFill>
        <a:effectLst/>
      </p:bgPr>
    </p:bg>
    <p:spTree>
      <p:nvGrpSpPr>
        <p:cNvPr id="1" name="Shape 14"/>
        <p:cNvGrpSpPr/>
        <p:nvPr/>
      </p:nvGrpSpPr>
      <p:grpSpPr>
        <a:xfrm>
          <a:off x="0" y="0"/>
          <a:ext cx="0" cy="0"/>
          <a:chOff x="0" y="0"/>
          <a:chExt cx="0" cy="0"/>
        </a:xfrm>
      </p:grpSpPr>
      <p:sp>
        <p:nvSpPr>
          <p:cNvPr id="15" name="Google Shape;15;p14"/>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14"/>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a:endParaRPr/>
          </a:p>
        </p:txBody>
      </p:sp>
      <p:sp>
        <p:nvSpPr>
          <p:cNvPr id="17" name="Google Shape;17;p14"/>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18" name="Google Shape;18;p1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cxnSp>
        <p:nvCxnSpPr>
          <p:cNvPr id="23" name="Google Shape;23;p16"/>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4" name="Google Shape;24;p16"/>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5" name="Google Shape;25;p16"/>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6" name="Google Shape;2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17"/>
          <p:cNvSpPr/>
          <p:nvPr/>
        </p:nvSpPr>
        <p:spPr>
          <a:xfrm rot="10800000">
            <a:off x="4226100" y="2933550"/>
            <a:ext cx="691800" cy="388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17"/>
          <p:cNvSpPr/>
          <p:nvPr/>
        </p:nvSpPr>
        <p:spPr>
          <a:xfrm>
            <a:off x="-25" y="0"/>
            <a:ext cx="9144000" cy="31242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17"/>
          <p:cNvSpPr txBox="1">
            <a:spLocks noGrp="1"/>
          </p:cNvSpPr>
          <p:nvPr>
            <p:ph type="ctrTitle"/>
          </p:nvPr>
        </p:nvSpPr>
        <p:spPr>
          <a:xfrm>
            <a:off x="411175" y="644300"/>
            <a:ext cx="8282400" cy="2109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31" name="Google Shape;31;p17"/>
          <p:cNvSpPr txBox="1">
            <a:spLocks noGrp="1"/>
          </p:cNvSpPr>
          <p:nvPr>
            <p:ph type="subTitle" idx="1"/>
          </p:nvPr>
        </p:nvSpPr>
        <p:spPr>
          <a:xfrm>
            <a:off x="411175" y="3398250"/>
            <a:ext cx="8282400" cy="126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a:endParaRPr/>
          </a:p>
        </p:txBody>
      </p:sp>
      <p:sp>
        <p:nvSpPr>
          <p:cNvPr id="32" name="Google Shape;32;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18"/>
          <p:cNvSpPr/>
          <p:nvPr/>
        </p:nvSpPr>
        <p:spPr>
          <a:xfrm>
            <a:off x="0" y="1567350"/>
            <a:ext cx="9144000" cy="2008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8"/>
          <p:cNvSpPr txBox="1">
            <a:spLocks noGrp="1"/>
          </p:cNvSpPr>
          <p:nvPr>
            <p:ph type="title"/>
          </p:nvPr>
        </p:nvSpPr>
        <p:spPr>
          <a:xfrm>
            <a:off x="430800" y="1889700"/>
            <a:ext cx="8282400" cy="15165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6" name="Google Shape;36;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cxnSp>
        <p:nvCxnSpPr>
          <p:cNvPr id="38" name="Google Shape;38;p19"/>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39" name="Google Shape;39;p19"/>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0" name="Google Shape;40;p19"/>
          <p:cNvSpPr txBox="1">
            <a:spLocks noGrp="1"/>
          </p:cNvSpPr>
          <p:nvPr>
            <p:ph type="body" idx="1"/>
          </p:nvPr>
        </p:nvSpPr>
        <p:spPr>
          <a:xfrm>
            <a:off x="311700" y="1468825"/>
            <a:ext cx="3999900" cy="3099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1" name="Google Shape;41;p19"/>
          <p:cNvSpPr txBox="1">
            <a:spLocks noGrp="1"/>
          </p:cNvSpPr>
          <p:nvPr>
            <p:ph type="body" idx="2"/>
          </p:nvPr>
        </p:nvSpPr>
        <p:spPr>
          <a:xfrm>
            <a:off x="4832400" y="1468825"/>
            <a:ext cx="3999900" cy="3099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2" name="Google Shape;42;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20"/>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6"/>
        <p:cNvGrpSpPr/>
        <p:nvPr/>
      </p:nvGrpSpPr>
      <p:grpSpPr>
        <a:xfrm>
          <a:off x="0" y="0"/>
          <a:ext cx="0" cy="0"/>
          <a:chOff x="0" y="0"/>
          <a:chExt cx="0" cy="0"/>
        </a:xfrm>
      </p:grpSpPr>
      <p:sp>
        <p:nvSpPr>
          <p:cNvPr id="47" name="Google Shape;47;p21"/>
          <p:cNvSpPr txBox="1">
            <a:spLocks noGrp="1"/>
          </p:cNvSpPr>
          <p:nvPr>
            <p:ph type="title"/>
          </p:nvPr>
        </p:nvSpPr>
        <p:spPr>
          <a:xfrm>
            <a:off x="490250" y="528900"/>
            <a:ext cx="5678100" cy="4085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a:endParaRPr/>
          </a:p>
        </p:txBody>
      </p:sp>
      <p:sp>
        <p:nvSpPr>
          <p:cNvPr id="48" name="Google Shape;4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49"/>
        <p:cNvGrpSpPr/>
        <p:nvPr/>
      </p:nvGrpSpPr>
      <p:grpSpPr>
        <a:xfrm>
          <a:off x="0" y="0"/>
          <a:ext cx="0" cy="0"/>
          <a:chOff x="0" y="0"/>
          <a:chExt cx="0" cy="0"/>
        </a:xfrm>
      </p:grpSpPr>
      <p:sp>
        <p:nvSpPr>
          <p:cNvPr id="50" name="Google Shape;50;p22"/>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22"/>
          <p:cNvCxnSpPr/>
          <p:nvPr/>
        </p:nvCxnSpPr>
        <p:spPr>
          <a:xfrm>
            <a:off x="5029675" y="4495500"/>
            <a:ext cx="577200" cy="0"/>
          </a:xfrm>
          <a:prstGeom prst="straightConnector1">
            <a:avLst/>
          </a:prstGeom>
          <a:noFill/>
          <a:ln w="19050" cap="flat" cmpd="sng">
            <a:solidFill>
              <a:schemeClr val="dk1"/>
            </a:solidFill>
            <a:prstDash val="lgDash"/>
            <a:round/>
            <a:headEnd type="none" w="sm" len="sm"/>
            <a:tailEnd type="none" w="sm" len="sm"/>
          </a:ln>
        </p:spPr>
      </p:cxnSp>
      <p:sp>
        <p:nvSpPr>
          <p:cNvPr id="52" name="Google Shape;52;p22"/>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a:endParaRPr/>
          </a:p>
        </p:txBody>
      </p:sp>
      <p:sp>
        <p:nvSpPr>
          <p:cNvPr id="53" name="Google Shape;53;p22"/>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54" name="Google Shape;54;p22"/>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55" name="Google Shape;5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2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100"/>
              <a:buFont typeface="Oswald"/>
              <a:buNone/>
              <a:defRPr sz="2100">
                <a:latin typeface="Oswald"/>
                <a:ea typeface="Oswald"/>
                <a:cs typeface="Oswald"/>
                <a:sym typeface="Oswald"/>
              </a:defRPr>
            </a:lvl1pPr>
          </a:lstStyle>
          <a:p>
            <a:endParaRPr/>
          </a:p>
        </p:txBody>
      </p:sp>
      <p:sp>
        <p:nvSpPr>
          <p:cNvPr id="58" name="Google Shape;58;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cxnSp>
        <p:nvCxnSpPr>
          <p:cNvPr id="60" name="Google Shape;60;p24"/>
          <p:cNvCxnSpPr/>
          <p:nvPr/>
        </p:nvCxnSpPr>
        <p:spPr>
          <a:xfrm>
            <a:off x="413275" y="2988275"/>
            <a:ext cx="910500" cy="0"/>
          </a:xfrm>
          <a:prstGeom prst="straightConnector1">
            <a:avLst/>
          </a:prstGeom>
          <a:noFill/>
          <a:ln w="28575" cap="flat" cmpd="sng">
            <a:solidFill>
              <a:schemeClr val="dk1"/>
            </a:solidFill>
            <a:prstDash val="lgDash"/>
            <a:round/>
            <a:headEnd type="none" w="sm" len="sm"/>
            <a:tailEnd type="none" w="sm" len="sm"/>
          </a:ln>
        </p:spPr>
      </p:cxnSp>
      <p:sp>
        <p:nvSpPr>
          <p:cNvPr id="61" name="Google Shape;61;p2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62" name="Google Shape;62;p2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3" name="Google Shape;63;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dern-writer">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1pPr>
            <a:lvl2pPr marR="0" lvl="1"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2pPr>
            <a:lvl3pPr marR="0" lvl="2"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3pPr>
            <a:lvl4pPr marR="0" lvl="3"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4pPr>
            <a:lvl5pPr marR="0" lvl="4"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5pPr>
            <a:lvl6pPr marR="0" lvl="5"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6pPr>
            <a:lvl7pPr marR="0" lvl="6"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7pPr>
            <a:lvl8pPr marR="0" lvl="7"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8pPr>
            <a:lvl9pPr marR="0" lvl="8" algn="l" rtl="0">
              <a:lnSpc>
                <a:spcPct val="100000"/>
              </a:lnSpc>
              <a:spcBef>
                <a:spcPts val="0"/>
              </a:spcBef>
              <a:spcAft>
                <a:spcPts val="0"/>
              </a:spcAft>
              <a:buClr>
                <a:schemeClr val="dk2"/>
              </a:buClr>
              <a:buSzPts val="3000"/>
              <a:buFont typeface="Oswald"/>
              <a:buNone/>
              <a:defRPr sz="3000" b="0" i="0" u="none" strike="noStrike" cap="none">
                <a:solidFill>
                  <a:schemeClr val="dk2"/>
                </a:solidFill>
                <a:latin typeface="Oswald"/>
                <a:ea typeface="Oswald"/>
                <a:cs typeface="Oswald"/>
                <a:sym typeface="Oswald"/>
              </a:defRPr>
            </a:lvl9pPr>
          </a:lstStyle>
          <a:p>
            <a:endParaRPr/>
          </a:p>
        </p:txBody>
      </p:sp>
      <p:sp>
        <p:nvSpPr>
          <p:cNvPr id="7" name="Google Shape;7;p12"/>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Source Code Pro"/>
              <a:buChar char="●"/>
              <a:defRPr sz="1800" b="0" i="0" u="none" strike="noStrike" cap="none">
                <a:solidFill>
                  <a:schemeClr val="dk2"/>
                </a:solidFill>
                <a:latin typeface="Source Code Pro"/>
                <a:ea typeface="Source Code Pro"/>
                <a:cs typeface="Source Code Pro"/>
                <a:sym typeface="Source Code Pro"/>
              </a:defRPr>
            </a:lvl1pPr>
            <a:lvl2pPr marL="914400" marR="0" lvl="1"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2pPr>
            <a:lvl3pPr marL="1371600" marR="0" lvl="2"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3pPr>
            <a:lvl4pPr marL="1828800" marR="0" lvl="3"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4pPr>
            <a:lvl5pPr marL="2286000" marR="0" lvl="4"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5pPr>
            <a:lvl6pPr marL="2743200" marR="0" lvl="5"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6pPr>
            <a:lvl7pPr marL="3200400" marR="0" lvl="6"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7pPr>
            <a:lvl8pPr marL="3657600" marR="0" lvl="7" indent="-317500" algn="l" rtl="0">
              <a:lnSpc>
                <a:spcPct val="115000"/>
              </a:lnSpc>
              <a:spcBef>
                <a:spcPts val="1600"/>
              </a:spcBef>
              <a:spcAft>
                <a:spcPts val="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8pPr>
            <a:lvl9pPr marL="4114800" marR="0" lvl="8" indent="-317500" algn="l" rtl="0">
              <a:lnSpc>
                <a:spcPct val="115000"/>
              </a:lnSpc>
              <a:spcBef>
                <a:spcPts val="1600"/>
              </a:spcBef>
              <a:spcAft>
                <a:spcPts val="1600"/>
              </a:spcAft>
              <a:buClr>
                <a:schemeClr val="dk2"/>
              </a:buClr>
              <a:buSzPts val="1400"/>
              <a:buFont typeface="Source Code Pro"/>
              <a:buChar char="■"/>
              <a:defRPr sz="1400" b="0" i="0" u="none" strike="noStrike" cap="none">
                <a:solidFill>
                  <a:schemeClr val="dk2"/>
                </a:solidFill>
                <a:latin typeface="Source Code Pro"/>
                <a:ea typeface="Source Code Pro"/>
                <a:cs typeface="Source Code Pro"/>
                <a:sym typeface="Source Code Pro"/>
              </a:defRPr>
            </a:lvl9pPr>
          </a:lstStyle>
          <a:p>
            <a:endParaRPr/>
          </a:p>
        </p:txBody>
      </p:sp>
      <p:sp>
        <p:nvSpPr>
          <p:cNvPr id="8" name="Google Shape;8;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Shape 67"/>
        <p:cNvGrpSpPr/>
        <p:nvPr/>
      </p:nvGrpSpPr>
      <p:grpSpPr>
        <a:xfrm>
          <a:off x="0" y="0"/>
          <a:ext cx="0" cy="0"/>
          <a:chOff x="0" y="0"/>
          <a:chExt cx="0" cy="0"/>
        </a:xfrm>
      </p:grpSpPr>
      <p:sp>
        <p:nvSpPr>
          <p:cNvPr id="68" name="Google Shape;68;p1"/>
          <p:cNvSpPr txBox="1">
            <a:spLocks noGrp="1"/>
          </p:cNvSpPr>
          <p:nvPr>
            <p:ph type="title"/>
          </p:nvPr>
        </p:nvSpPr>
        <p:spPr>
          <a:xfrm>
            <a:off x="265500" y="1078750"/>
            <a:ext cx="4045200" cy="1789200"/>
          </a:xfrm>
        </p:spPr>
        <p:txBody>
          <a:bodyPr spcFirstLastPara="1" wrap="square" lIns="91425" tIns="91425" rIns="91425" bIns="91425" anchor="b" anchorCtr="0">
            <a:normAutofit/>
          </a:bodyPr>
          <a:lstStyle/>
          <a:p>
            <a:pPr marL="0" lvl="0" indent="0" rtl="0">
              <a:spcBef>
                <a:spcPts val="0"/>
              </a:spcBef>
              <a:spcAft>
                <a:spcPts val="0"/>
              </a:spcAft>
              <a:buSzPts val="2400"/>
              <a:buNone/>
            </a:pPr>
            <a:r>
              <a:rPr lang="en" dirty="0"/>
              <a:t>Sprint Review  - Team Steve Jobs</a:t>
            </a:r>
          </a:p>
        </p:txBody>
      </p:sp>
      <p:sp>
        <p:nvSpPr>
          <p:cNvPr id="74" name="Subtitle 2">
            <a:extLst>
              <a:ext uri="{FF2B5EF4-FFF2-40B4-BE49-F238E27FC236}">
                <a16:creationId xmlns:a16="http://schemas.microsoft.com/office/drawing/2014/main" id="{F768FC9D-5FE4-F4B4-5908-9D11D4B76D8A}"/>
              </a:ext>
            </a:extLst>
          </p:cNvPr>
          <p:cNvSpPr>
            <a:spLocks noGrp="1"/>
          </p:cNvSpPr>
          <p:nvPr>
            <p:ph type="subTitle" idx="1"/>
          </p:nvPr>
        </p:nvSpPr>
        <p:spPr>
          <a:xfrm>
            <a:off x="265500" y="2921401"/>
            <a:ext cx="4045200" cy="1345500"/>
          </a:xfrm>
        </p:spPr>
        <p:txBody>
          <a:bodyPr/>
          <a:lstStyle/>
          <a:p>
            <a:endParaRPr lang="en-US"/>
          </a:p>
        </p:txBody>
      </p:sp>
      <p:sp>
        <p:nvSpPr>
          <p:cNvPr id="69" name="Google Shape;69;p1"/>
          <p:cNvSpPr txBox="1">
            <a:spLocks noGrp="1"/>
          </p:cNvSpPr>
          <p:nvPr>
            <p:ph type="body" idx="2"/>
          </p:nvPr>
        </p:nvSpPr>
        <p:spPr>
          <a:xfrm>
            <a:off x="4939500" y="724200"/>
            <a:ext cx="3837000" cy="3695100"/>
          </a:xfrm>
        </p:spPr>
        <p:txBody>
          <a:bodyPr spcFirstLastPara="1" wrap="square" lIns="91425" tIns="91425" rIns="91425" bIns="91425" anchor="ctr" anchorCtr="0">
            <a:normAutofit/>
          </a:bodyPr>
          <a:lstStyle/>
          <a:p>
            <a:pPr marL="0" lvl="0" indent="0" rtl="0">
              <a:spcBef>
                <a:spcPts val="0"/>
              </a:spcBef>
              <a:spcAft>
                <a:spcPts val="600"/>
              </a:spcAft>
              <a:buSzPts val="1200"/>
              <a:buNone/>
            </a:pPr>
            <a:r>
              <a:rPr lang="en" dirty="0"/>
              <a:t>2/19/2025</a:t>
            </a:r>
            <a:endParaRPr lang="en"/>
          </a:p>
          <a:p>
            <a:pPr marL="0" lvl="0" indent="0" rtl="0">
              <a:spcBef>
                <a:spcPts val="0"/>
              </a:spcBef>
              <a:spcAft>
                <a:spcPts val="600"/>
              </a:spcAft>
              <a:buSzPts val="1200"/>
              <a:buNone/>
            </a:pPr>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674EA7"/>
        </a:solidFill>
        <a:effectLst/>
      </p:bgPr>
    </p:bg>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600"/>
              <a:buNone/>
            </a:pPr>
            <a:r>
              <a:rPr lang="en" dirty="0"/>
              <a:t>Product Goal:</a:t>
            </a:r>
            <a:endParaRPr dirty="0"/>
          </a:p>
        </p:txBody>
      </p:sp>
      <p:sp>
        <p:nvSpPr>
          <p:cNvPr id="76" name="Google Shape;76;p2"/>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p>
            <a:pPr marL="0" indent="0"/>
            <a:r>
              <a:rPr lang="en" dirty="0"/>
              <a:t>Local Coffee Shop Webpage</a:t>
            </a:r>
            <a:endParaRPr dirty="0"/>
          </a:p>
        </p:txBody>
      </p:sp>
      <p:sp>
        <p:nvSpPr>
          <p:cNvPr id="77" name="Google Shape;77;p2"/>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p>
            <a:pPr marL="0" indent="0">
              <a:spcAft>
                <a:spcPts val="1600"/>
              </a:spcAft>
              <a:buNone/>
            </a:pPr>
            <a:r>
              <a:rPr lang="en" dirty="0"/>
              <a:t>To expand on what we created for our client's webpage.</a:t>
            </a:r>
            <a:endParaRPr lang="en-US" dirty="0"/>
          </a:p>
          <a:p>
            <a:pPr marL="285750" indent="-285750">
              <a:lnSpc>
                <a:spcPct val="114999"/>
              </a:lnSpc>
              <a:spcAft>
                <a:spcPts val="1600"/>
              </a:spcAft>
              <a:buFont typeface="Calibri"/>
              <a:buChar char="-"/>
            </a:pPr>
            <a:r>
              <a:rPr lang="en" dirty="0"/>
              <a:t>A fully functional page.</a:t>
            </a:r>
          </a:p>
          <a:p>
            <a:pPr marL="285750" indent="-285750">
              <a:lnSpc>
                <a:spcPct val="114999"/>
              </a:lnSpc>
              <a:spcAft>
                <a:spcPts val="1600"/>
              </a:spcAft>
              <a:buFont typeface="Calibri"/>
              <a:buChar char="-"/>
            </a:pPr>
            <a:r>
              <a:rPr lang="en" dirty="0"/>
              <a:t>Contains the core elements as visioned by the client.</a:t>
            </a:r>
          </a:p>
          <a:p>
            <a:pPr marL="285750" indent="-285750">
              <a:lnSpc>
                <a:spcPct val="114999"/>
              </a:lnSpc>
              <a:spcAft>
                <a:spcPts val="1600"/>
              </a:spcAft>
              <a:buFont typeface="Calibri"/>
              <a:buChar char="-"/>
            </a:pPr>
            <a:r>
              <a:rPr lang="en" dirty="0"/>
              <a:t>A place where a local community can grow.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AA84F"/>
        </a:solidFill>
        <a:effectLst/>
      </p:bgPr>
    </p:bg>
    <p:spTree>
      <p:nvGrpSpPr>
        <p:cNvPr id="1" name="Shape 81"/>
        <p:cNvGrpSpPr/>
        <p:nvPr/>
      </p:nvGrpSpPr>
      <p:grpSpPr>
        <a:xfrm>
          <a:off x="0" y="0"/>
          <a:ext cx="0" cy="0"/>
          <a:chOff x="0" y="0"/>
          <a:chExt cx="0" cy="0"/>
        </a:xfrm>
      </p:grpSpPr>
      <p:sp>
        <p:nvSpPr>
          <p:cNvPr id="82" name="Google Shape;82;p3"/>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SzPts val="1800"/>
              <a:buNone/>
            </a:pPr>
            <a:r>
              <a:rPr lang="en-US" dirty="0"/>
              <a:t>Add Sprint Goal Here</a:t>
            </a:r>
            <a:endParaRPr lang="en" dirty="0"/>
          </a:p>
        </p:txBody>
      </p:sp>
      <p:sp>
        <p:nvSpPr>
          <p:cNvPr id="83" name="Google Shape;83;p3"/>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600"/>
              <a:buNone/>
            </a:pPr>
            <a:r>
              <a:rPr lang="en"/>
              <a:t>Sprint Goal</a:t>
            </a:r>
            <a:endParaRPr/>
          </a:p>
        </p:txBody>
      </p:sp>
      <p:sp>
        <p:nvSpPr>
          <p:cNvPr id="84" name="Google Shape;84;p3"/>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900"/>
              <a:buNone/>
            </a:pPr>
            <a:r>
              <a:rPr lang="en"/>
              <a:t>Keeping Focus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6A57-E926-AB70-7EE6-2B3FCE7031FA}"/>
              </a:ext>
            </a:extLst>
          </p:cNvPr>
          <p:cNvSpPr>
            <a:spLocks noGrp="1"/>
          </p:cNvSpPr>
          <p:nvPr>
            <p:ph type="title"/>
          </p:nvPr>
        </p:nvSpPr>
        <p:spPr/>
        <p:txBody>
          <a:bodyPr/>
          <a:lstStyle/>
          <a:p>
            <a:r>
              <a:rPr lang="en-US" dirty="0"/>
              <a:t>Sprint 2</a:t>
            </a:r>
          </a:p>
        </p:txBody>
      </p:sp>
      <p:sp>
        <p:nvSpPr>
          <p:cNvPr id="3" name="Subtitle 2">
            <a:extLst>
              <a:ext uri="{FF2B5EF4-FFF2-40B4-BE49-F238E27FC236}">
                <a16:creationId xmlns:a16="http://schemas.microsoft.com/office/drawing/2014/main" id="{E0660B35-D3A9-B806-3CFD-CF210F7EE741}"/>
              </a:ext>
            </a:extLst>
          </p:cNvPr>
          <p:cNvSpPr>
            <a:spLocks noGrp="1"/>
          </p:cNvSpPr>
          <p:nvPr>
            <p:ph type="subTitle" idx="1"/>
          </p:nvPr>
        </p:nvSpPr>
        <p:spPr/>
        <p:txBody>
          <a:bodyPr/>
          <a:lstStyle/>
          <a:p>
            <a:endParaRPr lang="en-US" dirty="0"/>
          </a:p>
          <a:p>
            <a:endParaRPr lang="en-US" dirty="0"/>
          </a:p>
        </p:txBody>
      </p:sp>
      <p:sp>
        <p:nvSpPr>
          <p:cNvPr id="4" name="Text Placeholder 3">
            <a:extLst>
              <a:ext uri="{FF2B5EF4-FFF2-40B4-BE49-F238E27FC236}">
                <a16:creationId xmlns:a16="http://schemas.microsoft.com/office/drawing/2014/main" id="{A7D6820D-EC93-5C5C-563F-796D1A2DEA73}"/>
              </a:ext>
            </a:extLst>
          </p:cNvPr>
          <p:cNvSpPr>
            <a:spLocks noGrp="1"/>
          </p:cNvSpPr>
          <p:nvPr>
            <p:ph type="body" idx="2"/>
          </p:nvPr>
        </p:nvSpPr>
        <p:spPr/>
        <p:txBody>
          <a:bodyPr/>
          <a:lstStyle/>
          <a:p>
            <a:r>
              <a:rPr lang="en-US" dirty="0"/>
              <a:t>What we did this sprint</a:t>
            </a:r>
          </a:p>
          <a:p>
            <a:r>
              <a:rPr lang="en-US" dirty="0"/>
              <a:t>List each item without images</a:t>
            </a:r>
          </a:p>
          <a:p>
            <a:endParaRPr lang="en-US" dirty="0"/>
          </a:p>
        </p:txBody>
      </p:sp>
    </p:spTree>
    <p:extLst>
      <p:ext uri="{BB962C8B-B14F-4D97-AF65-F5344CB8AC3E}">
        <p14:creationId xmlns:p14="http://schemas.microsoft.com/office/powerpoint/2010/main" val="1179744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1155CC"/>
        </a:solidFill>
        <a:effectLst/>
      </p:bgPr>
    </p:bg>
    <p:spTree>
      <p:nvGrpSpPr>
        <p:cNvPr id="1" name="Shape 103"/>
        <p:cNvGrpSpPr/>
        <p:nvPr/>
      </p:nvGrpSpPr>
      <p:grpSpPr>
        <a:xfrm>
          <a:off x="0" y="0"/>
          <a:ext cx="0" cy="0"/>
          <a:chOff x="0" y="0"/>
          <a:chExt cx="0" cy="0"/>
        </a:xfrm>
      </p:grpSpPr>
      <p:sp>
        <p:nvSpPr>
          <p:cNvPr id="104" name="Google Shape;104;p6"/>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600"/>
              <a:buNone/>
            </a:pPr>
            <a:r>
              <a:rPr lang="en"/>
              <a:t>Value Delivered</a:t>
            </a:r>
            <a:endParaRPr/>
          </a:p>
        </p:txBody>
      </p:sp>
      <p:sp>
        <p:nvSpPr>
          <p:cNvPr id="105" name="Google Shape;105;p6"/>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900"/>
              <a:buNone/>
            </a:pPr>
            <a:r>
              <a:rPr lang="en"/>
              <a:t>It’s about value</a:t>
            </a:r>
            <a:endParaRPr/>
          </a:p>
        </p:txBody>
      </p:sp>
      <p:sp>
        <p:nvSpPr>
          <p:cNvPr id="106" name="Google Shape;106;p6"/>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p>
            <a:pPr>
              <a:lnSpc>
                <a:spcPct val="114999"/>
              </a:lnSpc>
            </a:pPr>
            <a:r>
              <a:rPr lang="en" b="1" dirty="0"/>
              <a:t>Explained to customers more about our company</a:t>
            </a:r>
          </a:p>
          <a:p>
            <a:pPr marL="114300" indent="0">
              <a:lnSpc>
                <a:spcPct val="114999"/>
              </a:lnSpc>
              <a:buNone/>
            </a:pPr>
            <a:endParaRPr lang="en" b="1" dirty="0"/>
          </a:p>
          <a:p>
            <a:r>
              <a:rPr lang="en" b="1" dirty="0"/>
              <a:t>Business Logo</a:t>
            </a:r>
            <a:endParaRPr lang="en" dirty="0"/>
          </a:p>
          <a:p>
            <a:pPr marL="114300" indent="0">
              <a:lnSpc>
                <a:spcPct val="114999"/>
              </a:lnSpc>
              <a:buNone/>
            </a:pPr>
            <a:endParaRPr lang="en" b="1" dirty="0"/>
          </a:p>
          <a:p>
            <a:r>
              <a:rPr lang="en" b="1" dirty="0"/>
              <a:t>Sales &amp; Events</a:t>
            </a:r>
            <a:endParaRPr lang="en"/>
          </a:p>
          <a:p>
            <a:pPr marL="114300" indent="0">
              <a:lnSpc>
                <a:spcPct val="114999"/>
              </a:lnSpc>
              <a:buNone/>
            </a:pPr>
            <a:endParaRPr lang="en" b="1" dirty="0"/>
          </a:p>
          <a:p>
            <a:r>
              <a:rPr lang="en" b="1" dirty="0"/>
              <a:t>Images and Banners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808BA-F539-B388-E70E-4C71FE5D0B3D}"/>
              </a:ext>
            </a:extLst>
          </p:cNvPr>
          <p:cNvSpPr>
            <a:spLocks noGrp="1"/>
          </p:cNvSpPr>
          <p:nvPr>
            <p:ph type="title"/>
          </p:nvPr>
        </p:nvSpPr>
        <p:spPr/>
        <p:txBody>
          <a:bodyPr/>
          <a:lstStyle/>
          <a:p>
            <a:r>
              <a:rPr lang="en-US" dirty="0"/>
              <a:t>Sprint Demo</a:t>
            </a:r>
          </a:p>
        </p:txBody>
      </p:sp>
      <p:sp>
        <p:nvSpPr>
          <p:cNvPr id="3" name="Subtitle 2">
            <a:extLst>
              <a:ext uri="{FF2B5EF4-FFF2-40B4-BE49-F238E27FC236}">
                <a16:creationId xmlns:a16="http://schemas.microsoft.com/office/drawing/2014/main" id="{527489E3-45CE-8DEA-2063-FAA97E94E9FD}"/>
              </a:ext>
            </a:extLst>
          </p:cNvPr>
          <p:cNvSpPr>
            <a:spLocks noGrp="1"/>
          </p:cNvSpPr>
          <p:nvPr>
            <p:ph type="subTitle" idx="1"/>
          </p:nvPr>
        </p:nvSpPr>
        <p:spPr/>
        <p:txBody>
          <a:bodyPr/>
          <a:lstStyle/>
          <a:p>
            <a:r>
              <a:rPr lang="en-US" dirty="0"/>
              <a:t>.</a:t>
            </a:r>
          </a:p>
        </p:txBody>
      </p:sp>
      <p:sp>
        <p:nvSpPr>
          <p:cNvPr id="4" name="Text Placeholder 3">
            <a:extLst>
              <a:ext uri="{FF2B5EF4-FFF2-40B4-BE49-F238E27FC236}">
                <a16:creationId xmlns:a16="http://schemas.microsoft.com/office/drawing/2014/main" id="{E1BFF7FA-B6C1-EFA8-574E-2268BE6A9191}"/>
              </a:ext>
            </a:extLst>
          </p:cNvPr>
          <p:cNvSpPr>
            <a:spLocks noGrp="1"/>
          </p:cNvSpPr>
          <p:nvPr>
            <p:ph type="body" idx="2"/>
          </p:nvPr>
        </p:nvSpPr>
        <p:spPr/>
        <p:txBody>
          <a:bodyPr/>
          <a:lstStyle/>
          <a:p>
            <a:r>
              <a:rPr lang="en-US" dirty="0"/>
              <a:t>Placeholder- go to the live demo now</a:t>
            </a:r>
          </a:p>
        </p:txBody>
      </p:sp>
    </p:spTree>
    <p:extLst>
      <p:ext uri="{BB962C8B-B14F-4D97-AF65-F5344CB8AC3E}">
        <p14:creationId xmlns:p14="http://schemas.microsoft.com/office/powerpoint/2010/main" val="637209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Shape 67">
          <a:extLst>
            <a:ext uri="{FF2B5EF4-FFF2-40B4-BE49-F238E27FC236}">
              <a16:creationId xmlns:a16="http://schemas.microsoft.com/office/drawing/2014/main" id="{F64BF287-4565-A808-7DC2-0202C639BE1D}"/>
            </a:ext>
          </a:extLst>
        </p:cNvPr>
        <p:cNvGrpSpPr/>
        <p:nvPr/>
      </p:nvGrpSpPr>
      <p:grpSpPr>
        <a:xfrm>
          <a:off x="0" y="0"/>
          <a:ext cx="0" cy="0"/>
          <a:chOff x="0" y="0"/>
          <a:chExt cx="0" cy="0"/>
        </a:xfrm>
      </p:grpSpPr>
      <p:sp>
        <p:nvSpPr>
          <p:cNvPr id="68" name="Google Shape;68;p1">
            <a:extLst>
              <a:ext uri="{FF2B5EF4-FFF2-40B4-BE49-F238E27FC236}">
                <a16:creationId xmlns:a16="http://schemas.microsoft.com/office/drawing/2014/main" id="{69847A30-EF7F-4A2A-CB6F-7569162D2CE3}"/>
              </a:ext>
            </a:extLst>
          </p:cNvPr>
          <p:cNvSpPr txBox="1">
            <a:spLocks noGrp="1"/>
          </p:cNvSpPr>
          <p:nvPr>
            <p:ph type="title"/>
          </p:nvPr>
        </p:nvSpPr>
        <p:spPr>
          <a:xfrm>
            <a:off x="265500" y="1078750"/>
            <a:ext cx="4045200" cy="1789200"/>
          </a:xfrm>
        </p:spPr>
        <p:txBody>
          <a:bodyPr spcFirstLastPara="1" wrap="square" lIns="91425" tIns="91425" rIns="91425" bIns="91425" anchor="b" anchorCtr="0">
            <a:normAutofit/>
          </a:bodyPr>
          <a:lstStyle/>
          <a:p>
            <a:pPr marL="0" lvl="0" indent="0" rtl="0">
              <a:spcBef>
                <a:spcPts val="0"/>
              </a:spcBef>
              <a:spcAft>
                <a:spcPts val="0"/>
              </a:spcAft>
              <a:buSzPts val="2400"/>
              <a:buNone/>
            </a:pPr>
            <a:r>
              <a:rPr lang="en" dirty="0"/>
              <a:t>Recap</a:t>
            </a:r>
            <a:endParaRPr lang="en-US"/>
          </a:p>
        </p:txBody>
      </p:sp>
      <p:sp>
        <p:nvSpPr>
          <p:cNvPr id="74" name="Subtitle 2">
            <a:extLst>
              <a:ext uri="{FF2B5EF4-FFF2-40B4-BE49-F238E27FC236}">
                <a16:creationId xmlns:a16="http://schemas.microsoft.com/office/drawing/2014/main" id="{1D443886-43B6-E9E1-F7B2-D1C5F9DCBE5D}"/>
              </a:ext>
            </a:extLst>
          </p:cNvPr>
          <p:cNvSpPr>
            <a:spLocks noGrp="1"/>
          </p:cNvSpPr>
          <p:nvPr>
            <p:ph type="subTitle" idx="1"/>
          </p:nvPr>
        </p:nvSpPr>
        <p:spPr>
          <a:xfrm>
            <a:off x="265500" y="2921401"/>
            <a:ext cx="4045200" cy="1345500"/>
          </a:xfrm>
        </p:spPr>
        <p:txBody>
          <a:bodyPr/>
          <a:lstStyle/>
          <a:p>
            <a:endParaRPr lang="en-US" dirty="0"/>
          </a:p>
        </p:txBody>
      </p:sp>
      <p:sp>
        <p:nvSpPr>
          <p:cNvPr id="69" name="Google Shape;69;p1">
            <a:extLst>
              <a:ext uri="{FF2B5EF4-FFF2-40B4-BE49-F238E27FC236}">
                <a16:creationId xmlns:a16="http://schemas.microsoft.com/office/drawing/2014/main" id="{259C7C4C-BC10-F9C0-2724-F80E1786B1C4}"/>
              </a:ext>
            </a:extLst>
          </p:cNvPr>
          <p:cNvSpPr txBox="1">
            <a:spLocks noGrp="1"/>
          </p:cNvSpPr>
          <p:nvPr>
            <p:ph type="body" idx="2"/>
          </p:nvPr>
        </p:nvSpPr>
        <p:spPr>
          <a:xfrm>
            <a:off x="4939500" y="724200"/>
            <a:ext cx="3837000" cy="3695100"/>
          </a:xfrm>
        </p:spPr>
        <p:txBody>
          <a:bodyPr spcFirstLastPara="1" wrap="square" lIns="91425" tIns="91425" rIns="91425" bIns="91425" anchor="ctr" anchorCtr="0">
            <a:normAutofit/>
          </a:bodyPr>
          <a:lstStyle/>
          <a:p>
            <a:pPr marL="457200" lvl="0" indent="-304800" rtl="0">
              <a:spcBef>
                <a:spcPts val="1600"/>
              </a:spcBef>
              <a:spcAft>
                <a:spcPts val="0"/>
              </a:spcAft>
              <a:buSzPts val="1200"/>
              <a:buChar char="●"/>
            </a:pPr>
            <a:r>
              <a:rPr lang="en-US" dirty="0"/>
              <a:t>Put what we </a:t>
            </a:r>
            <a:r>
              <a:rPr lang="en-US" dirty="0" err="1"/>
              <a:t>demo’d</a:t>
            </a:r>
            <a:r>
              <a:rPr lang="en-US" dirty="0"/>
              <a:t> here</a:t>
            </a:r>
          </a:p>
          <a:p>
            <a:pPr marL="457200" lvl="0" indent="-304800" rtl="0">
              <a:spcBef>
                <a:spcPts val="1600"/>
              </a:spcBef>
              <a:spcAft>
                <a:spcPts val="0"/>
              </a:spcAft>
              <a:buSzPts val="1200"/>
              <a:buChar char="●"/>
            </a:pPr>
            <a:r>
              <a:rPr lang="en-US" dirty="0"/>
              <a:t>List the major items</a:t>
            </a:r>
          </a:p>
        </p:txBody>
      </p:sp>
    </p:spTree>
    <p:extLst>
      <p:ext uri="{BB962C8B-B14F-4D97-AF65-F5344CB8AC3E}">
        <p14:creationId xmlns:p14="http://schemas.microsoft.com/office/powerpoint/2010/main" val="3500273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F6000"/>
        </a:solidFill>
        <a:effectLst/>
      </p:bgPr>
    </p:bg>
    <p:spTree>
      <p:nvGrpSpPr>
        <p:cNvPr id="1" name="Shape 117"/>
        <p:cNvGrpSpPr/>
        <p:nvPr/>
      </p:nvGrpSpPr>
      <p:grpSpPr>
        <a:xfrm>
          <a:off x="0" y="0"/>
          <a:ext cx="0" cy="0"/>
          <a:chOff x="0" y="0"/>
          <a:chExt cx="0" cy="0"/>
        </a:xfrm>
      </p:grpSpPr>
      <p:sp>
        <p:nvSpPr>
          <p:cNvPr id="118" name="Google Shape;118;p8"/>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600"/>
              <a:buNone/>
            </a:pPr>
            <a:r>
              <a:rPr lang="en"/>
              <a:t>Product Backlog</a:t>
            </a:r>
            <a:endParaRPr/>
          </a:p>
        </p:txBody>
      </p:sp>
      <p:sp>
        <p:nvSpPr>
          <p:cNvPr id="119" name="Google Shape;119;p8"/>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900"/>
              <a:buNone/>
            </a:pPr>
            <a:r>
              <a:rPr lang="en"/>
              <a:t>Value &amp; Priority</a:t>
            </a:r>
            <a:endParaRPr/>
          </a:p>
        </p:txBody>
      </p:sp>
      <p:sp>
        <p:nvSpPr>
          <p:cNvPr id="120" name="Google Shape;120;p8"/>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p>
            <a:pPr marL="285750" indent="-285750">
              <a:lnSpc>
                <a:spcPct val="114999"/>
              </a:lnSpc>
              <a:spcAft>
                <a:spcPts val="1600"/>
              </a:spcAft>
            </a:pPr>
            <a:r>
              <a:rPr lang="en-US" dirty="0"/>
              <a:t>L</a:t>
            </a:r>
            <a:r>
              <a:rPr lang="en" dirty="0"/>
              <a:t>ist what we have on the backlog next- big picture only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Shape 67">
          <a:extLst>
            <a:ext uri="{FF2B5EF4-FFF2-40B4-BE49-F238E27FC236}">
              <a16:creationId xmlns:a16="http://schemas.microsoft.com/office/drawing/2014/main" id="{984234A6-E26D-3D18-8F9B-18BAEEB6F988}"/>
            </a:ext>
          </a:extLst>
        </p:cNvPr>
        <p:cNvGrpSpPr/>
        <p:nvPr/>
      </p:nvGrpSpPr>
      <p:grpSpPr>
        <a:xfrm>
          <a:off x="0" y="0"/>
          <a:ext cx="0" cy="0"/>
          <a:chOff x="0" y="0"/>
          <a:chExt cx="0" cy="0"/>
        </a:xfrm>
      </p:grpSpPr>
      <p:sp>
        <p:nvSpPr>
          <p:cNvPr id="68" name="Google Shape;68;p1">
            <a:extLst>
              <a:ext uri="{FF2B5EF4-FFF2-40B4-BE49-F238E27FC236}">
                <a16:creationId xmlns:a16="http://schemas.microsoft.com/office/drawing/2014/main" id="{D906E718-6169-B51D-AD07-5EEE493B7891}"/>
              </a:ext>
            </a:extLst>
          </p:cNvPr>
          <p:cNvSpPr txBox="1">
            <a:spLocks noGrp="1"/>
          </p:cNvSpPr>
          <p:nvPr>
            <p:ph type="title"/>
          </p:nvPr>
        </p:nvSpPr>
        <p:spPr>
          <a:xfrm>
            <a:off x="265500" y="1078750"/>
            <a:ext cx="4045200" cy="1789200"/>
          </a:xfrm>
        </p:spPr>
        <p:txBody>
          <a:bodyPr spcFirstLastPara="1" wrap="square" lIns="91425" tIns="91425" rIns="91425" bIns="91425" anchor="b" anchorCtr="0">
            <a:normAutofit/>
          </a:bodyPr>
          <a:lstStyle/>
          <a:p>
            <a:pPr marL="0" lvl="0" indent="0" rtl="0">
              <a:spcBef>
                <a:spcPts val="0"/>
              </a:spcBef>
              <a:spcAft>
                <a:spcPts val="0"/>
              </a:spcAft>
              <a:buSzPts val="2400"/>
              <a:buNone/>
            </a:pPr>
            <a:r>
              <a:rPr lang="en" dirty="0"/>
              <a:t>Q&amp;A</a:t>
            </a:r>
            <a:endParaRPr lang="en-US"/>
          </a:p>
        </p:txBody>
      </p:sp>
      <p:sp>
        <p:nvSpPr>
          <p:cNvPr id="74" name="Subtitle 2">
            <a:extLst>
              <a:ext uri="{FF2B5EF4-FFF2-40B4-BE49-F238E27FC236}">
                <a16:creationId xmlns:a16="http://schemas.microsoft.com/office/drawing/2014/main" id="{71475B74-75C0-76F1-2CBE-340ED3CC4744}"/>
              </a:ext>
            </a:extLst>
          </p:cNvPr>
          <p:cNvSpPr>
            <a:spLocks noGrp="1"/>
          </p:cNvSpPr>
          <p:nvPr>
            <p:ph type="subTitle" idx="1"/>
          </p:nvPr>
        </p:nvSpPr>
        <p:spPr>
          <a:xfrm>
            <a:off x="265500" y="2921401"/>
            <a:ext cx="4045200" cy="1345500"/>
          </a:xfrm>
        </p:spPr>
        <p:txBody>
          <a:bodyPr/>
          <a:lstStyle/>
          <a:p>
            <a:endParaRPr lang="en-US"/>
          </a:p>
        </p:txBody>
      </p:sp>
      <p:sp>
        <p:nvSpPr>
          <p:cNvPr id="69" name="Google Shape;69;p1">
            <a:extLst>
              <a:ext uri="{FF2B5EF4-FFF2-40B4-BE49-F238E27FC236}">
                <a16:creationId xmlns:a16="http://schemas.microsoft.com/office/drawing/2014/main" id="{2599FD50-669C-ACD1-034E-A9F1305916FD}"/>
              </a:ext>
            </a:extLst>
          </p:cNvPr>
          <p:cNvSpPr txBox="1">
            <a:spLocks noGrp="1"/>
          </p:cNvSpPr>
          <p:nvPr>
            <p:ph type="body" idx="2"/>
          </p:nvPr>
        </p:nvSpPr>
        <p:spPr>
          <a:xfrm>
            <a:off x="4939500" y="724200"/>
            <a:ext cx="3837000" cy="3695100"/>
          </a:xfrm>
        </p:spPr>
        <p:txBody>
          <a:bodyPr spcFirstLastPara="1" wrap="square" lIns="91425" tIns="91425" rIns="91425" bIns="91425" anchor="ctr" anchorCtr="0">
            <a:normAutofit/>
          </a:bodyPr>
          <a:lstStyle/>
          <a:p>
            <a:pPr marL="457200" lvl="0" indent="-304800" rtl="0">
              <a:spcBef>
                <a:spcPts val="1600"/>
              </a:spcBef>
              <a:spcAft>
                <a:spcPts val="0"/>
              </a:spcAft>
              <a:buSzPts val="1200"/>
              <a:buChar char="●"/>
            </a:pPr>
            <a:r>
              <a:rPr lang="en-US" dirty="0"/>
              <a:t>Questions</a:t>
            </a:r>
            <a:endParaRPr lang="en-US"/>
          </a:p>
        </p:txBody>
      </p:sp>
    </p:spTree>
    <p:extLst>
      <p:ext uri="{BB962C8B-B14F-4D97-AF65-F5344CB8AC3E}">
        <p14:creationId xmlns:p14="http://schemas.microsoft.com/office/powerpoint/2010/main" val="910989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130"/>
        <p:cNvGrpSpPr/>
        <p:nvPr/>
      </p:nvGrpSpPr>
      <p:grpSpPr>
        <a:xfrm>
          <a:off x="0" y="0"/>
          <a:ext cx="0" cy="0"/>
          <a:chOff x="0" y="0"/>
          <a:chExt cx="0" cy="0"/>
        </a:xfrm>
      </p:grpSpPr>
      <p:sp>
        <p:nvSpPr>
          <p:cNvPr id="131" name="Google Shape;131;p10"/>
          <p:cNvSpPr txBox="1"/>
          <p:nvPr/>
        </p:nvSpPr>
        <p:spPr>
          <a:xfrm>
            <a:off x="228600" y="156875"/>
            <a:ext cx="4119300" cy="5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dirty="0"/>
              <a:t>Supercool</a:t>
            </a:r>
            <a:endParaRPr sz="1800" b="1" i="0" u="none" strike="noStrike" cap="none" dirty="0" err="1">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Sprint </a:t>
            </a:r>
            <a:r>
              <a:rPr lang="en" dirty="0"/>
              <a:t>2025-nn</a:t>
            </a:r>
            <a:endParaRPr sz="1400" b="0" i="0" u="none" strike="noStrike" cap="none" dirty="0">
              <a:solidFill>
                <a:srgbClr val="000000"/>
              </a:solidFill>
              <a:latin typeface="Arial"/>
              <a:ea typeface="Arial"/>
              <a:cs typeface="Arial"/>
              <a:sym typeface="Arial"/>
            </a:endParaRPr>
          </a:p>
        </p:txBody>
      </p:sp>
      <p:sp>
        <p:nvSpPr>
          <p:cNvPr id="132" name="Google Shape;132;p10"/>
          <p:cNvSpPr txBox="1"/>
          <p:nvPr/>
        </p:nvSpPr>
        <p:spPr>
          <a:xfrm>
            <a:off x="228600" y="896975"/>
            <a:ext cx="4119300" cy="1827300"/>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dirty="0">
                <a:solidFill>
                  <a:srgbClr val="00B050"/>
                </a:solidFill>
                <a:latin typeface="Arial"/>
                <a:ea typeface="Arial"/>
                <a:cs typeface="Arial"/>
                <a:sym typeface="Arial"/>
              </a:rPr>
              <a:t>Sprint Goal</a:t>
            </a:r>
            <a:endParaRPr sz="1800" b="1" i="0" u="none" strike="noStrike" cap="none" dirty="0">
              <a:solidFill>
                <a:srgbClr val="00B050"/>
              </a:solidFill>
              <a:latin typeface="Arial"/>
              <a:ea typeface="Arial"/>
              <a:cs typeface="Arial"/>
              <a:sym typeface="Arial"/>
            </a:endParaRPr>
          </a:p>
          <a:p>
            <a:pPr marL="0" marR="0" lvl="0" indent="0" algn="l">
              <a:lnSpc>
                <a:spcPct val="114999"/>
              </a:lnSpc>
              <a:spcBef>
                <a:spcPts val="0"/>
              </a:spcBef>
              <a:spcAft>
                <a:spcPts val="0"/>
              </a:spcAft>
              <a:buNone/>
            </a:pPr>
            <a:r>
              <a:rPr lang="en" sz="1200" b="0" i="0" u="none" strike="noStrike" cap="none" dirty="0">
                <a:solidFill>
                  <a:srgbClr val="00B050"/>
                </a:solidFill>
                <a:latin typeface="Source Code Pro"/>
                <a:ea typeface="Source Code Pro"/>
                <a:sym typeface="Arial"/>
              </a:rPr>
              <a:t>Our focus is on </a:t>
            </a:r>
            <a:r>
              <a:rPr lang="en" sz="1200" dirty="0">
                <a:solidFill>
                  <a:srgbClr val="00B050"/>
                </a:solidFill>
                <a:latin typeface="Source Code Pro"/>
                <a:ea typeface="Source Code Pro"/>
              </a:rPr>
              <a:t>Community</a:t>
            </a:r>
            <a:endParaRPr lang="en-US" sz="1200" b="0" i="0" u="none" strike="noStrike" cap="none">
              <a:solidFill>
                <a:srgbClr val="00B050"/>
              </a:solidFill>
              <a:latin typeface="Source Code Pro"/>
              <a:ea typeface="Source Code Pro"/>
            </a:endParaRPr>
          </a:p>
          <a:p>
            <a:pPr>
              <a:lnSpc>
                <a:spcPct val="114999"/>
              </a:lnSpc>
              <a:spcBef>
                <a:spcPts val="1600"/>
              </a:spcBef>
            </a:pPr>
            <a:r>
              <a:rPr lang="en" sz="1200" b="0" i="0" u="none" strike="noStrike" cap="none" dirty="0">
                <a:solidFill>
                  <a:srgbClr val="00B050"/>
                </a:solidFill>
                <a:latin typeface="Source Code Pro"/>
                <a:ea typeface="Source Code Pro"/>
                <a:sym typeface="Arial"/>
              </a:rPr>
              <a:t>We believe it delivers </a:t>
            </a:r>
            <a:r>
              <a:rPr lang="en" sz="1200" dirty="0">
                <a:solidFill>
                  <a:srgbClr val="00B050"/>
                </a:solidFill>
                <a:latin typeface="Source Code Pro"/>
                <a:ea typeface="Source Code Pro"/>
              </a:rPr>
              <a:t>a positive impact on the customer </a:t>
            </a:r>
            <a:r>
              <a:rPr lang="en" sz="1200" b="0" i="0" u="none" strike="noStrike" cap="none" dirty="0">
                <a:solidFill>
                  <a:srgbClr val="00B050"/>
                </a:solidFill>
                <a:latin typeface="Source Code Pro"/>
                <a:ea typeface="Source Code Pro"/>
                <a:sym typeface="Arial"/>
              </a:rPr>
              <a:t>when </a:t>
            </a:r>
            <a:r>
              <a:rPr lang="en" sz="1200" dirty="0">
                <a:solidFill>
                  <a:srgbClr val="00B050"/>
                </a:solidFill>
                <a:latin typeface="Source Code Pro"/>
                <a:ea typeface="Source Code Pro"/>
              </a:rPr>
              <a:t>we are focused on the community aspect</a:t>
            </a:r>
            <a:endParaRPr lang="en-US" sz="1200" b="0" i="0" u="none" strike="noStrike" cap="none">
              <a:solidFill>
                <a:srgbClr val="00B050"/>
              </a:solidFill>
              <a:latin typeface="Source Code Pro"/>
              <a:ea typeface="Source Code Pro"/>
            </a:endParaRPr>
          </a:p>
          <a:p>
            <a:pPr marL="0" marR="0" lvl="0" indent="0" algn="l">
              <a:lnSpc>
                <a:spcPct val="100000"/>
              </a:lnSpc>
              <a:spcBef>
                <a:spcPts val="0"/>
              </a:spcBef>
              <a:spcAft>
                <a:spcPts val="0"/>
              </a:spcAft>
              <a:buSzPts val="1400"/>
              <a:buFont typeface="Arial"/>
              <a:buNone/>
            </a:pPr>
            <a:endParaRPr lang="en" sz="1400" b="0" i="0" u="none" strike="noStrike" cap="none" dirty="0">
              <a:solidFill>
                <a:srgbClr val="00B050"/>
              </a:solidFill>
              <a:latin typeface="Arial"/>
              <a:ea typeface="Arial"/>
              <a:cs typeface="Arial"/>
            </a:endParaRPr>
          </a:p>
        </p:txBody>
      </p:sp>
      <p:sp>
        <p:nvSpPr>
          <p:cNvPr id="134" name="Google Shape;134;p10"/>
          <p:cNvSpPr txBox="1"/>
          <p:nvPr/>
        </p:nvSpPr>
        <p:spPr>
          <a:xfrm>
            <a:off x="4796100" y="896975"/>
            <a:ext cx="4119300" cy="182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dirty="0">
                <a:solidFill>
                  <a:srgbClr val="1155CC"/>
                </a:solidFill>
                <a:latin typeface="Arial"/>
                <a:ea typeface="Arial"/>
                <a:cs typeface="Arial"/>
                <a:sym typeface="Arial"/>
              </a:rPr>
              <a:t>Value Delivered</a:t>
            </a:r>
            <a:endParaRPr sz="1800" b="1" i="0" u="none" strike="noStrike" cap="none" dirty="0">
              <a:solidFill>
                <a:srgbClr val="1155CC"/>
              </a:solidFill>
              <a:latin typeface="Arial"/>
              <a:ea typeface="Arial"/>
              <a:cs typeface="Arial"/>
              <a:sym typeface="Arial"/>
            </a:endParaRPr>
          </a:p>
          <a:p>
            <a:pPr marL="0" marR="0" lvl="0" indent="0" algn="l" rtl="0">
              <a:lnSpc>
                <a:spcPct val="100000"/>
              </a:lnSpc>
              <a:spcBef>
                <a:spcPts val="0"/>
              </a:spcBef>
              <a:spcAft>
                <a:spcPts val="0"/>
              </a:spcAft>
              <a:buNone/>
            </a:pPr>
            <a:r>
              <a:rPr lang="en" sz="1400" b="1" i="0" u="none" strike="noStrike" cap="none" dirty="0">
                <a:solidFill>
                  <a:srgbClr val="1155CC"/>
                </a:solidFill>
                <a:latin typeface="Arial"/>
                <a:ea typeface="Arial"/>
                <a:cs typeface="Arial"/>
                <a:sym typeface="Arial"/>
              </a:rPr>
              <a:t>SG:</a:t>
            </a:r>
            <a:r>
              <a:rPr lang="en" sz="1400" b="0" i="0" u="none" strike="noStrike" cap="none" dirty="0">
                <a:solidFill>
                  <a:srgbClr val="1155CC"/>
                </a:solidFill>
                <a:latin typeface="Arial"/>
                <a:ea typeface="Arial"/>
                <a:cs typeface="Arial"/>
                <a:sym typeface="Arial"/>
              </a:rPr>
              <a:t> Done product backlog item #1</a:t>
            </a:r>
            <a:endParaRPr dirty="0"/>
          </a:p>
          <a:p>
            <a:pPr marL="0" marR="0" lvl="0" indent="0" algn="l" rtl="0">
              <a:lnSpc>
                <a:spcPct val="100000"/>
              </a:lnSpc>
              <a:spcBef>
                <a:spcPts val="0"/>
              </a:spcBef>
              <a:spcAft>
                <a:spcPts val="0"/>
              </a:spcAft>
              <a:buNone/>
            </a:pPr>
            <a:r>
              <a:rPr lang="en" sz="1400" b="1" i="0" u="none" strike="noStrike" cap="none" dirty="0">
                <a:solidFill>
                  <a:srgbClr val="1155CC"/>
                </a:solidFill>
                <a:latin typeface="Arial"/>
                <a:ea typeface="Arial"/>
                <a:cs typeface="Arial"/>
                <a:sym typeface="Arial"/>
              </a:rPr>
              <a:t>SG:</a:t>
            </a:r>
            <a:r>
              <a:rPr lang="en" sz="1400" b="0" i="0" u="none" strike="noStrike" cap="none" dirty="0">
                <a:solidFill>
                  <a:srgbClr val="1155CC"/>
                </a:solidFill>
                <a:latin typeface="Arial"/>
                <a:ea typeface="Arial"/>
                <a:cs typeface="Arial"/>
                <a:sym typeface="Arial"/>
              </a:rPr>
              <a:t> Done product backlog item #2</a:t>
            </a:r>
            <a:endParaRPr dirty="0"/>
          </a:p>
          <a:p>
            <a:pPr marL="0" marR="0" lvl="0" indent="0" algn="l" rtl="0">
              <a:lnSpc>
                <a:spcPct val="100000"/>
              </a:lnSpc>
              <a:spcBef>
                <a:spcPts val="0"/>
              </a:spcBef>
              <a:spcAft>
                <a:spcPts val="0"/>
              </a:spcAft>
              <a:buNone/>
            </a:pPr>
            <a:r>
              <a:rPr lang="en" sz="1400" b="1" i="0" u="none" strike="noStrike" cap="none" dirty="0">
                <a:solidFill>
                  <a:srgbClr val="1155CC"/>
                </a:solidFill>
                <a:latin typeface="Arial"/>
                <a:ea typeface="Arial"/>
                <a:cs typeface="Arial"/>
                <a:sym typeface="Arial"/>
              </a:rPr>
              <a:t>SG:</a:t>
            </a:r>
            <a:r>
              <a:rPr lang="en" sz="1400" b="0" i="0" u="none" strike="noStrike" cap="none" dirty="0">
                <a:solidFill>
                  <a:srgbClr val="1155CC"/>
                </a:solidFill>
                <a:latin typeface="Arial"/>
                <a:ea typeface="Arial"/>
                <a:cs typeface="Arial"/>
                <a:sym typeface="Arial"/>
              </a:rPr>
              <a:t> Done product backlog item #3</a:t>
            </a:r>
            <a:endParaRPr dirty="0"/>
          </a:p>
          <a:p>
            <a:pPr marL="0" marR="0" lvl="0" indent="0" algn="l" rtl="0">
              <a:lnSpc>
                <a:spcPct val="100000"/>
              </a:lnSpc>
              <a:spcBef>
                <a:spcPts val="0"/>
              </a:spcBef>
              <a:spcAft>
                <a:spcPts val="0"/>
              </a:spcAft>
              <a:buNone/>
            </a:pPr>
            <a:endParaRPr lang="en" sz="1400" i="0" u="none" strike="noStrike" cap="none" dirty="0">
              <a:solidFill>
                <a:srgbClr val="1155CC"/>
              </a:solidFill>
              <a:latin typeface="Arial"/>
              <a:ea typeface="Arial"/>
              <a:cs typeface="Arial"/>
            </a:endParaRPr>
          </a:p>
          <a:p>
            <a:pPr marL="0" marR="0" lvl="0" indent="0" algn="l" rtl="0">
              <a:lnSpc>
                <a:spcPct val="100000"/>
              </a:lnSpc>
              <a:spcBef>
                <a:spcPts val="0"/>
              </a:spcBef>
              <a:spcAft>
                <a:spcPts val="0"/>
              </a:spcAft>
              <a:buClr>
                <a:srgbClr val="000000"/>
              </a:buClr>
              <a:buSzPts val="1400"/>
              <a:buFont typeface="Arial"/>
              <a:buNone/>
            </a:pPr>
            <a:br>
              <a:rPr lang="en" sz="1400" b="0" i="0" u="none" strike="noStrike" cap="none" dirty="0">
                <a:latin typeface="Arial"/>
                <a:ea typeface="Arial"/>
                <a:cs typeface="Arial"/>
              </a:rPr>
            </a:br>
            <a:br>
              <a:rPr lang="en" sz="1400" b="0" i="0" u="none" strike="noStrike" cap="none" dirty="0">
                <a:latin typeface="Arial"/>
                <a:ea typeface="Arial"/>
                <a:cs typeface="Arial"/>
              </a:rPr>
            </a:br>
            <a:endParaRPr sz="1400" b="1" i="0" u="none" strike="noStrike" cap="none">
              <a:solidFill>
                <a:srgbClr val="1155CC"/>
              </a:solidFill>
              <a:latin typeface="Arial"/>
              <a:ea typeface="Arial"/>
              <a:cs typeface="Arial"/>
              <a:sym typeface="Arial"/>
            </a:endParaRPr>
          </a:p>
        </p:txBody>
      </p:sp>
      <p:sp>
        <p:nvSpPr>
          <p:cNvPr id="135" name="Google Shape;135;p10"/>
          <p:cNvSpPr txBox="1"/>
          <p:nvPr/>
        </p:nvSpPr>
        <p:spPr>
          <a:xfrm>
            <a:off x="4796100" y="2800475"/>
            <a:ext cx="4119300" cy="148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E69138"/>
                </a:solidFill>
                <a:latin typeface="Arial"/>
                <a:ea typeface="Arial"/>
                <a:cs typeface="Arial"/>
                <a:sym typeface="Arial"/>
              </a:rPr>
              <a:t>Discussion</a:t>
            </a:r>
            <a:endParaRPr sz="1800" b="0" i="0" u="none" strike="noStrike" cap="none">
              <a:solidFill>
                <a:srgbClr val="E69138"/>
              </a:solidFill>
              <a:latin typeface="Arial"/>
              <a:ea typeface="Arial"/>
              <a:cs typeface="Arial"/>
              <a:sym typeface="Arial"/>
            </a:endParaRPr>
          </a:p>
          <a:p>
            <a:pPr marL="457200" marR="0" lvl="0" indent="-317500" algn="l" rtl="0">
              <a:lnSpc>
                <a:spcPct val="100000"/>
              </a:lnSpc>
              <a:spcBef>
                <a:spcPts val="0"/>
              </a:spcBef>
              <a:spcAft>
                <a:spcPts val="0"/>
              </a:spcAft>
              <a:buClr>
                <a:srgbClr val="E69138"/>
              </a:buClr>
              <a:buSzPts val="1400"/>
              <a:buFont typeface="Arial"/>
              <a:buChar char="●"/>
            </a:pPr>
            <a:r>
              <a:rPr lang="en" sz="1400" b="0" i="0" u="none" strike="noStrike" cap="none">
                <a:solidFill>
                  <a:srgbClr val="E69138"/>
                </a:solidFill>
                <a:latin typeface="Arial"/>
                <a:ea typeface="Arial"/>
                <a:cs typeface="Arial"/>
                <a:sym typeface="Arial"/>
              </a:rPr>
              <a:t>Market Horizon ...</a:t>
            </a:r>
            <a:endParaRPr sz="1400" b="0" i="0" u="none" strike="noStrike" cap="none">
              <a:solidFill>
                <a:srgbClr val="E69138"/>
              </a:solidFill>
              <a:latin typeface="Arial"/>
              <a:ea typeface="Arial"/>
              <a:cs typeface="Arial"/>
              <a:sym typeface="Arial"/>
            </a:endParaRPr>
          </a:p>
          <a:p>
            <a:pPr marL="457200" marR="0" lvl="0" indent="-317500" algn="l" rtl="0">
              <a:lnSpc>
                <a:spcPct val="100000"/>
              </a:lnSpc>
              <a:spcBef>
                <a:spcPts val="0"/>
              </a:spcBef>
              <a:spcAft>
                <a:spcPts val="0"/>
              </a:spcAft>
              <a:buClr>
                <a:srgbClr val="E69138"/>
              </a:buClr>
              <a:buSzPts val="1400"/>
              <a:buFont typeface="Arial"/>
              <a:buChar char="●"/>
            </a:pPr>
            <a:r>
              <a:rPr lang="en" sz="1400" b="0" i="0" u="none" strike="noStrike" cap="none">
                <a:solidFill>
                  <a:srgbClr val="E69138"/>
                </a:solidFill>
                <a:latin typeface="Arial"/>
                <a:ea typeface="Arial"/>
                <a:cs typeface="Arial"/>
                <a:sym typeface="Arial"/>
              </a:rPr>
              <a:t>Competition ... </a:t>
            </a:r>
            <a:endParaRPr sz="1400" b="0" i="0" u="none" strike="noStrike" cap="none">
              <a:solidFill>
                <a:srgbClr val="E69138"/>
              </a:solidFill>
              <a:latin typeface="Arial"/>
              <a:ea typeface="Arial"/>
              <a:cs typeface="Arial"/>
              <a:sym typeface="Arial"/>
            </a:endParaRPr>
          </a:p>
          <a:p>
            <a:pPr marL="457200" marR="0" lvl="0" indent="-317500" algn="l" rtl="0">
              <a:lnSpc>
                <a:spcPct val="100000"/>
              </a:lnSpc>
              <a:spcBef>
                <a:spcPts val="0"/>
              </a:spcBef>
              <a:spcAft>
                <a:spcPts val="0"/>
              </a:spcAft>
              <a:buClr>
                <a:srgbClr val="E69138"/>
              </a:buClr>
              <a:buSzPts val="1400"/>
              <a:buFont typeface="Arial"/>
              <a:buChar char="●"/>
            </a:pPr>
            <a:r>
              <a:rPr lang="en" sz="1400" b="0" i="0" u="none" strike="noStrike" cap="none">
                <a:solidFill>
                  <a:srgbClr val="E69138"/>
                </a:solidFill>
                <a:latin typeface="Arial"/>
                <a:ea typeface="Arial"/>
                <a:cs typeface="Arial"/>
                <a:sym typeface="Arial"/>
              </a:rPr>
              <a:t>Org Impediments</a:t>
            </a:r>
            <a:endParaRPr sz="1400" b="0" i="0" u="none" strike="noStrike" cap="none">
              <a:solidFill>
                <a:srgbClr val="E69138"/>
              </a:solidFill>
              <a:latin typeface="Arial"/>
              <a:ea typeface="Arial"/>
              <a:cs typeface="Arial"/>
              <a:sym typeface="Arial"/>
            </a:endParaRPr>
          </a:p>
          <a:p>
            <a:pPr marL="457200" marR="0" lvl="0" indent="-317500" algn="l" rtl="0">
              <a:lnSpc>
                <a:spcPct val="100000"/>
              </a:lnSpc>
              <a:spcBef>
                <a:spcPts val="0"/>
              </a:spcBef>
              <a:spcAft>
                <a:spcPts val="0"/>
              </a:spcAft>
              <a:buClr>
                <a:srgbClr val="E69138"/>
              </a:buClr>
              <a:buSzPts val="1400"/>
              <a:buFont typeface="Arial"/>
              <a:buChar char="●"/>
            </a:pPr>
            <a:r>
              <a:rPr lang="en" sz="1400" b="0" i="0" u="none" strike="noStrike" cap="none">
                <a:solidFill>
                  <a:srgbClr val="E69138"/>
                </a:solidFill>
                <a:latin typeface="Arial"/>
                <a:ea typeface="Arial"/>
                <a:cs typeface="Arial"/>
                <a:sym typeface="Arial"/>
              </a:rPr>
              <a:t>Review Product Goal ...</a:t>
            </a:r>
            <a:endParaRPr sz="1400" b="0" i="0" u="none" strike="noStrike" cap="none">
              <a:solidFill>
                <a:srgbClr val="E69138"/>
              </a:solidFill>
              <a:latin typeface="Arial"/>
              <a:ea typeface="Arial"/>
              <a:cs typeface="Arial"/>
              <a:sym typeface="Arial"/>
            </a:endParaRPr>
          </a:p>
          <a:p>
            <a:pPr marL="457200" marR="0" lvl="0" indent="-317500" algn="l" rtl="0">
              <a:lnSpc>
                <a:spcPct val="100000"/>
              </a:lnSpc>
              <a:spcBef>
                <a:spcPts val="0"/>
              </a:spcBef>
              <a:spcAft>
                <a:spcPts val="0"/>
              </a:spcAft>
              <a:buClr>
                <a:srgbClr val="E69138"/>
              </a:buClr>
              <a:buSzPts val="1400"/>
              <a:buFont typeface="Arial"/>
              <a:buChar char="●"/>
            </a:pPr>
            <a:r>
              <a:rPr lang="en" sz="1400" b="0" i="0" u="none" strike="noStrike" cap="none">
                <a:solidFill>
                  <a:srgbClr val="E69138"/>
                </a:solidFill>
                <a:latin typeface="Arial"/>
                <a:ea typeface="Arial"/>
                <a:cs typeface="Arial"/>
                <a:sym typeface="Arial"/>
              </a:rPr>
              <a:t>Future Releases</a:t>
            </a:r>
            <a:endParaRPr sz="1400" b="0" i="0" u="none" strike="noStrike" cap="none">
              <a:solidFill>
                <a:srgbClr val="E69138"/>
              </a:solidFill>
              <a:latin typeface="Arial"/>
              <a:ea typeface="Arial"/>
              <a:cs typeface="Arial"/>
              <a:sym typeface="Arial"/>
            </a:endParaRPr>
          </a:p>
          <a:p>
            <a:pPr marL="914400" marR="0" lvl="1" indent="-317500" algn="l" rtl="0">
              <a:lnSpc>
                <a:spcPct val="100000"/>
              </a:lnSpc>
              <a:spcBef>
                <a:spcPts val="0"/>
              </a:spcBef>
              <a:spcAft>
                <a:spcPts val="0"/>
              </a:spcAft>
              <a:buClr>
                <a:srgbClr val="E69138"/>
              </a:buClr>
              <a:buSzPts val="1400"/>
              <a:buFont typeface="Arial"/>
              <a:buChar char="○"/>
            </a:pPr>
            <a:r>
              <a:rPr lang="en" sz="1400" b="0" i="0" u="none" strike="noStrike" cap="none">
                <a:solidFill>
                  <a:srgbClr val="E69138"/>
                </a:solidFill>
                <a:latin typeface="Arial"/>
                <a:ea typeface="Arial"/>
                <a:cs typeface="Arial"/>
                <a:sym typeface="Arial"/>
              </a:rPr>
              <a:t>...</a:t>
            </a:r>
            <a:endParaRPr sz="1400" b="0" i="0" u="none" strike="noStrike" cap="none">
              <a:solidFill>
                <a:srgbClr val="E69138"/>
              </a:solidFill>
              <a:latin typeface="Arial"/>
              <a:ea typeface="Arial"/>
              <a:cs typeface="Arial"/>
              <a:sym typeface="Arial"/>
            </a:endParaRPr>
          </a:p>
        </p:txBody>
      </p:sp>
      <p:sp>
        <p:nvSpPr>
          <p:cNvPr id="136" name="Google Shape;136;p10"/>
          <p:cNvSpPr txBox="1"/>
          <p:nvPr/>
        </p:nvSpPr>
        <p:spPr>
          <a:xfrm>
            <a:off x="4796100" y="156875"/>
            <a:ext cx="4119300" cy="587700"/>
          </a:xfrm>
          <a:prstGeom prst="rect">
            <a:avLst/>
          </a:prstGeom>
          <a:noFill/>
          <a:ln>
            <a:noFill/>
          </a:ln>
        </p:spPr>
        <p:txBody>
          <a:bodyPr spcFirstLastPara="1" wrap="square" lIns="91425" tIns="91425" rIns="91425" bIns="91425" anchor="t" anchorCtr="0">
            <a:noAutofit/>
          </a:bodyPr>
          <a:lstStyle/>
          <a:p>
            <a:pPr>
              <a:buSzPts val="1800"/>
            </a:pPr>
            <a:r>
              <a:rPr lang="en" sz="1800" b="1" i="0" u="none" strike="noStrike" cap="none">
                <a:solidFill>
                  <a:srgbClr val="674EA7"/>
                </a:solidFill>
                <a:latin typeface="Arial"/>
                <a:ea typeface="Arial"/>
                <a:cs typeface="Arial"/>
                <a:sym typeface="Arial"/>
              </a:rPr>
              <a:t>Product </a:t>
            </a:r>
            <a:r>
              <a:rPr lang="en" sz="1800" b="1">
                <a:solidFill>
                  <a:srgbClr val="674EA7"/>
                </a:solidFill>
              </a:rPr>
              <a:t>Goal</a:t>
            </a:r>
            <a:endParaRPr lang="en-US" sz="1800" b="1">
              <a:solidFill>
                <a:srgbClr val="674EA7"/>
              </a:solidFill>
            </a:endParaRPr>
          </a:p>
          <a:p>
            <a:pPr>
              <a:buSzPts val="1800"/>
            </a:pPr>
            <a:r>
              <a:rPr lang="en" sz="1800" b="1" dirty="0">
                <a:solidFill>
                  <a:srgbClr val="674EA7"/>
                </a:solidFill>
              </a:rPr>
              <a:t>A finished website that brings a </a:t>
            </a:r>
            <a:r>
              <a:rPr lang="en" sz="1800" b="1">
                <a:solidFill>
                  <a:srgbClr val="674EA7"/>
                </a:solidFill>
              </a:rPr>
              <a:t>community together.</a:t>
            </a:r>
          </a:p>
          <a:p>
            <a:pPr>
              <a:buSzPts val="1800"/>
            </a:pPr>
            <a:endParaRPr lang="en" sz="1800" b="1" dirty="0">
              <a:solidFill>
                <a:srgbClr val="674EA7"/>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Shape 140"/>
        <p:cNvGrpSpPr/>
        <p:nvPr/>
      </p:nvGrpSpPr>
      <p:grpSpPr>
        <a:xfrm>
          <a:off x="0" y="0"/>
          <a:ext cx="0" cy="0"/>
          <a:chOff x="0" y="0"/>
          <a:chExt cx="0" cy="0"/>
        </a:xfrm>
      </p:grpSpPr>
      <p:sp>
        <p:nvSpPr>
          <p:cNvPr id="141" name="Google Shape;141;p11"/>
          <p:cNvSpPr txBox="1">
            <a:spLocks noGrp="1"/>
          </p:cNvSpPr>
          <p:nvPr>
            <p:ph type="title"/>
          </p:nvPr>
        </p:nvSpPr>
        <p:spPr>
          <a:xfrm>
            <a:off x="265500" y="1078750"/>
            <a:ext cx="4045200" cy="1789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600"/>
              <a:buNone/>
            </a:pPr>
            <a:r>
              <a:rPr lang="en"/>
              <a:t>Value Vote</a:t>
            </a:r>
            <a:endParaRPr/>
          </a:p>
        </p:txBody>
      </p:sp>
      <p:sp>
        <p:nvSpPr>
          <p:cNvPr id="142" name="Google Shape;142;p11"/>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900"/>
              <a:buNone/>
            </a:pPr>
            <a:r>
              <a:rPr lang="en"/>
              <a:t>Time is valuable</a:t>
            </a:r>
            <a:endParaRPr/>
          </a:p>
        </p:txBody>
      </p:sp>
      <p:sp>
        <p:nvSpPr>
          <p:cNvPr id="143" name="Google Shape;143;p11"/>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SzPts val="1800"/>
              <a:buNone/>
            </a:pPr>
            <a:r>
              <a:rPr lang="en" b="1"/>
              <a:t>Attendees</a:t>
            </a:r>
            <a:endParaRPr b="1"/>
          </a:p>
          <a:p>
            <a:pPr marL="457200" lvl="0" indent="-342900" algn="l" rtl="0">
              <a:lnSpc>
                <a:spcPct val="115000"/>
              </a:lnSpc>
              <a:spcBef>
                <a:spcPts val="1600"/>
              </a:spcBef>
              <a:spcAft>
                <a:spcPts val="0"/>
              </a:spcAft>
              <a:buSzPts val="1800"/>
              <a:buChar char="●"/>
            </a:pPr>
            <a:r>
              <a:rPr lang="en"/>
              <a:t>SH1 +1</a:t>
            </a:r>
            <a:endParaRPr/>
          </a:p>
          <a:p>
            <a:pPr marL="457200" lvl="0" indent="-342900" algn="l" rtl="0">
              <a:lnSpc>
                <a:spcPct val="115000"/>
              </a:lnSpc>
              <a:spcBef>
                <a:spcPts val="0"/>
              </a:spcBef>
              <a:spcAft>
                <a:spcPts val="0"/>
              </a:spcAft>
              <a:buSzPts val="1800"/>
              <a:buChar char="●"/>
            </a:pPr>
            <a:r>
              <a:rPr lang="en"/>
              <a:t>SH2 0</a:t>
            </a:r>
            <a:endParaRPr/>
          </a:p>
          <a:p>
            <a:pPr marL="457200" lvl="0" indent="-342900" algn="l" rtl="0">
              <a:lnSpc>
                <a:spcPct val="115000"/>
              </a:lnSpc>
              <a:spcBef>
                <a:spcPts val="0"/>
              </a:spcBef>
              <a:spcAft>
                <a:spcPts val="0"/>
              </a:spcAft>
              <a:buSzPts val="1800"/>
              <a:buChar char="●"/>
            </a:pPr>
            <a:r>
              <a:rPr lang="en"/>
              <a:t>SH3 -1</a:t>
            </a:r>
            <a:endParaRPr/>
          </a:p>
          <a:p>
            <a:pPr marL="457200" lvl="0" indent="-342900" algn="l" rtl="0">
              <a:lnSpc>
                <a:spcPct val="115000"/>
              </a:lnSpc>
              <a:spcBef>
                <a:spcPts val="0"/>
              </a:spcBef>
              <a:spcAft>
                <a:spcPts val="0"/>
              </a:spcAft>
              <a:buSzPts val="1800"/>
              <a:buChar char="●"/>
            </a:pPr>
            <a:r>
              <a:rPr lang="en"/>
              <a:t>SH4 +1</a:t>
            </a:r>
            <a:endParaRPr/>
          </a:p>
          <a:p>
            <a:pPr marL="457200" lvl="0" indent="-342900" algn="l" rtl="0">
              <a:lnSpc>
                <a:spcPct val="115000"/>
              </a:lnSpc>
              <a:spcBef>
                <a:spcPts val="0"/>
              </a:spcBef>
              <a:spcAft>
                <a:spcPts val="0"/>
              </a:spcAft>
              <a:buSzPts val="1800"/>
              <a:buChar char="●"/>
            </a:pPr>
            <a:r>
              <a:rPr lang="en"/>
              <a:t>...</a:t>
            </a:r>
            <a:endParaRPr/>
          </a:p>
          <a:p>
            <a:pPr marL="0" lvl="0" indent="0" algn="l" rtl="0">
              <a:lnSpc>
                <a:spcPct val="115000"/>
              </a:lnSpc>
              <a:spcBef>
                <a:spcPts val="1600"/>
              </a:spcBef>
              <a:spcAft>
                <a:spcPts val="1600"/>
              </a:spcAft>
              <a:buSzPts val="1800"/>
              <a:buNone/>
            </a:pPr>
            <a:r>
              <a:rPr lang="en" b="1"/>
              <a:t>Results: 01/04</a:t>
            </a:r>
            <a:endParaRPr b="1"/>
          </a:p>
        </p:txBody>
      </p:sp>
    </p:spTree>
  </p:cSld>
  <p:clrMapOvr>
    <a:masterClrMapping/>
  </p:clrMapOvr>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289</Words>
  <Application>Microsoft Office PowerPoint</Application>
  <PresentationFormat>On-screen Show (16:9)</PresentationFormat>
  <Paragraphs>64</Paragraphs>
  <Slides>11</Slides>
  <Notes>9</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Oswald</vt:lpstr>
      <vt:lpstr>Calibri</vt:lpstr>
      <vt:lpstr>Source Code Pro</vt:lpstr>
      <vt:lpstr>Modern Writer</vt:lpstr>
      <vt:lpstr>Sprint Review  - Team Steve Jobs</vt:lpstr>
      <vt:lpstr>Product Goal:</vt:lpstr>
      <vt:lpstr>Sprint Goal</vt:lpstr>
      <vt:lpstr>Sprint 2</vt:lpstr>
      <vt:lpstr>Value Delivered</vt:lpstr>
      <vt:lpstr>Sprint Demo</vt:lpstr>
      <vt:lpstr>Recap</vt:lpstr>
      <vt:lpstr>Product Backlog</vt:lpstr>
      <vt:lpstr>Q&amp;A</vt:lpstr>
      <vt:lpstr>PowerPoint Presentation</vt:lpstr>
      <vt:lpstr>Value Vote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SuperCool SprintName Sprint YYYY-nn</dc:title>
  <cp:lastModifiedBy>Presley, Brent A</cp:lastModifiedBy>
  <cp:revision>175</cp:revision>
  <dcterms:modified xsi:type="dcterms:W3CDTF">2025-02-19T20:29:52Z</dcterms:modified>
</cp:coreProperties>
</file>